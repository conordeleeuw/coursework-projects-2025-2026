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3" r:id="rId2"/>
  </p:sldIdLst>
  <p:sldSz cx="43891200" cy="32918400"/>
  <p:notesSz cx="31954788" cy="50149125"/>
  <p:embeddedFontLst>
    <p:embeddedFont>
      <p:font typeface="Libre Baskerville" panose="02000000000000000000" pitchFamily="2" charset="0"/>
      <p:regular r:id="rId5"/>
      <p:bold r:id="rId6"/>
      <p:italic r:id="rId7"/>
    </p:embeddedFont>
    <p:embeddedFont>
      <p:font typeface="Montserrat Light" panose="00000400000000000000" pitchFamily="2" charset="0"/>
      <p:regular r:id="rId8"/>
      <p:italic r:id="rId9"/>
    </p:embeddedFont>
  </p:embeddedFontLst>
  <p:custDataLst>
    <p:tags r:id="rId10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68">
          <p15:clr>
            <a:srgbClr val="A4A3A4"/>
          </p15:clr>
        </p15:guide>
        <p15:guide id="2" orient="horz" pos="5632">
          <p15:clr>
            <a:srgbClr val="A4A3A4"/>
          </p15:clr>
        </p15:guide>
        <p15:guide id="3" orient="horz" pos="3533">
          <p15:clr>
            <a:srgbClr val="A4A3A4"/>
          </p15:clr>
        </p15:guide>
        <p15:guide id="4" orient="horz" pos="6246">
          <p15:clr>
            <a:srgbClr val="A4A3A4"/>
          </p15:clr>
        </p15:guide>
        <p15:guide id="5" pos="720">
          <p15:clr>
            <a:srgbClr val="A4A3A4"/>
          </p15:clr>
        </p15:guide>
        <p15:guide id="6" pos="6912">
          <p15:clr>
            <a:srgbClr val="A4A3A4"/>
          </p15:clr>
        </p15:guide>
        <p15:guide id="7" pos="7392">
          <p15:clr>
            <a:srgbClr val="A4A3A4"/>
          </p15:clr>
        </p15:guide>
        <p15:guide id="8" pos="13584">
          <p15:clr>
            <a:srgbClr val="A4A3A4"/>
          </p15:clr>
        </p15:guide>
        <p15:guide id="9" pos="14064">
          <p15:clr>
            <a:srgbClr val="A4A3A4"/>
          </p15:clr>
        </p15:guide>
        <p15:guide id="10" pos="20256">
          <p15:clr>
            <a:srgbClr val="A4A3A4"/>
          </p15:clr>
        </p15:guide>
        <p15:guide id="11" pos="20736">
          <p15:clr>
            <a:srgbClr val="A4A3A4"/>
          </p15:clr>
        </p15:guide>
        <p15:guide id="12" pos="2692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5795">
          <p15:clr>
            <a:srgbClr val="A4A3A4"/>
          </p15:clr>
        </p15:guide>
        <p15:guide id="2" pos="10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 autoAdjust="0"/>
    <p:restoredTop sz="94660" autoAdjust="0"/>
  </p:normalViewPr>
  <p:slideViewPr>
    <p:cSldViewPr>
      <p:cViewPr>
        <p:scale>
          <a:sx n="16" d="100"/>
          <a:sy n="16" d="100"/>
        </p:scale>
        <p:origin x="1228" y="-48"/>
      </p:cViewPr>
      <p:guideLst>
        <p:guide orient="horz" pos="19968"/>
        <p:guide orient="horz" pos="5632"/>
        <p:guide orient="horz" pos="3533"/>
        <p:guide orient="horz" pos="6246"/>
        <p:guide pos="720"/>
        <p:guide pos="6912"/>
        <p:guide pos="7392"/>
        <p:guide pos="13584"/>
        <p:guide pos="14064"/>
        <p:guide pos="20256"/>
        <p:guide pos="20736"/>
        <p:guide pos="269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17" d="100"/>
          <a:sy n="17" d="100"/>
        </p:scale>
        <p:origin x="4416" y="178"/>
      </p:cViewPr>
      <p:guideLst>
        <p:guide orient="horz" pos="15795"/>
        <p:guide pos="1006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38049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7941925" y="0"/>
            <a:ext cx="141351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47639288"/>
            <a:ext cx="138049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7941925" y="47639288"/>
            <a:ext cx="141351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4508500">
              <a:defRPr sz="6000"/>
            </a:lvl1pPr>
          </a:lstStyle>
          <a:p>
            <a:pPr>
              <a:defRPr/>
            </a:pPr>
            <a:fld id="{440C443C-8022-4F5D-8F2E-5133654FC91D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7928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38049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7941925" y="0"/>
            <a:ext cx="141351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78200" y="3757613"/>
            <a:ext cx="24996775" cy="18748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137025" y="24004588"/>
            <a:ext cx="23456900" cy="2251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47639288"/>
            <a:ext cx="138049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7941925" y="47639288"/>
            <a:ext cx="141351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4508500">
              <a:defRPr sz="6000"/>
            </a:lvl1pPr>
          </a:lstStyle>
          <a:p>
            <a:pPr>
              <a:defRPr/>
            </a:pPr>
            <a:fld id="{42207482-9F38-4AF6-9B91-768DCEDA59AC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07993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defPPr>
              <a:defRPr kern="1200"/>
            </a:defPPr>
            <a:lvl1pPr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4508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4508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4508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4508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42B0325-ACC9-488E-8876-C4E9E3B68AD8}" type="slidenum">
              <a:rPr lang="en-AU" sz="6000" smtClean="0"/>
              <a:t>1</a:t>
            </a:fld>
            <a:endParaRPr lang="en-AU" sz="6000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123" y="10226675"/>
            <a:ext cx="37306957" cy="7054850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4245" y="18653125"/>
            <a:ext cx="30722711" cy="8413750"/>
          </a:xfr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DA66E67-F948-4693-96A5-27BC239C04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92258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EC1B4D6-BEE2-4AF6-A92E-38CD68913D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76266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1" y="21153439"/>
            <a:ext cx="37306957" cy="6537325"/>
          </a:xfrm>
        </p:spPr>
        <p:txBody>
          <a:bodyPr anchor="t"/>
          <a:lstStyle>
            <a:defPPr>
              <a:defRPr kern="1200"/>
            </a:defPPr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1" y="13952538"/>
            <a:ext cx="37306957" cy="7200900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D8650354-6837-43DB-843B-C6021BD2EF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3821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93534" y="9509126"/>
            <a:ext cx="18584332" cy="19751675"/>
          </a:xfrm>
        </p:spPr>
        <p:txBody>
          <a:bodyPr/>
          <a:lstStyle>
            <a:defPPr>
              <a:defRPr kern="1200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13334" y="9509126"/>
            <a:ext cx="18584332" cy="19751675"/>
          </a:xfrm>
        </p:spPr>
        <p:txBody>
          <a:bodyPr/>
          <a:lstStyle>
            <a:defPPr>
              <a:defRPr kern="1200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4296FF25-ADB1-4315-9622-9852994CD1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0916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3" cy="5486400"/>
          </a:xfrm>
        </p:spPr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278" y="7369176"/>
            <a:ext cx="19392900" cy="3070225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278" y="10439400"/>
            <a:ext cx="19392900" cy="18965862"/>
          </a:xfrm>
        </p:spPr>
        <p:txBody>
          <a:bodyPr/>
          <a:lstStyle>
            <a:defPPr>
              <a:defRPr kern="1200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5555" y="7369176"/>
            <a:ext cx="19401368" cy="3070225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5555" y="10439400"/>
            <a:ext cx="19401368" cy="18965862"/>
          </a:xfrm>
        </p:spPr>
        <p:txBody>
          <a:bodyPr/>
          <a:lstStyle>
            <a:defPPr>
              <a:defRPr kern="1200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72EF82B1-171C-4CAC-B9C4-22062286C8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2392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78F620B-8934-45A0-BE2C-EF6C76032C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38633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3ECE3F5-A3DD-46D3-8112-19EE7FD1DD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42527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8" y="1311275"/>
            <a:ext cx="14439900" cy="5576888"/>
          </a:xfrm>
        </p:spPr>
        <p:txBody>
          <a:bodyPr anchor="b"/>
          <a:lstStyle>
            <a:defPPr>
              <a:defRPr kern="1200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523" y="1311275"/>
            <a:ext cx="24536400" cy="28093988"/>
          </a:xfrm>
        </p:spPr>
        <p:txBody>
          <a:bodyPr/>
          <a:lstStyle>
            <a:defPPr>
              <a:defRPr kern="1200"/>
            </a:defPPr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278" y="6888163"/>
            <a:ext cx="14439900" cy="22517100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96691E56-DA67-4BF5-BA67-706F30B370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9561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3545" y="23042564"/>
            <a:ext cx="26334157" cy="2720975"/>
          </a:xfrm>
        </p:spPr>
        <p:txBody>
          <a:bodyPr anchor="b"/>
          <a:lstStyle>
            <a:defPPr>
              <a:defRPr kern="1200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3545" y="2941638"/>
            <a:ext cx="26334157" cy="19750088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3545" y="25763539"/>
            <a:ext cx="26334157" cy="3862387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87F51DAE-E528-43E1-8BE0-91521416EF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2948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2DA27A25-0059-41B6-A6E5-54D93C1080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18746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271635" y="2925763"/>
            <a:ext cx="9326033" cy="26335038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93534" y="2925763"/>
            <a:ext cx="27842635" cy="26335038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43B26BC-A2E6-4CDA-9F76-12293F2660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8540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0094B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94063" y="2925763"/>
            <a:ext cx="37303075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26714" tIns="213357" rIns="426714" bIns="213357" anchor="ctr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94063" y="9509125"/>
            <a:ext cx="37303075" cy="1975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26714" tIns="213357" rIns="426714" bIns="21335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294063" y="29992638"/>
            <a:ext cx="9144000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26714" tIns="213357" rIns="426714" bIns="21335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4267200">
              <a:defRPr sz="6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993938" y="29992638"/>
            <a:ext cx="13903325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26714" tIns="213357" rIns="426714" bIns="21335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ctr" defTabSz="4267200">
              <a:defRPr sz="6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453138" y="29992638"/>
            <a:ext cx="9144000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26714" tIns="213357" rIns="426714" bIns="21335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4267200">
              <a:defRPr sz="6500"/>
            </a:lvl1pPr>
          </a:lstStyle>
          <a:p>
            <a:pPr>
              <a:defRPr/>
            </a:pPr>
            <a:fld id="{469A0CB4-D18D-4AEF-B324-9EDF067D13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11074400" y="16459200"/>
            <a:ext cx="14274800" cy="3937000"/>
          </a:xfrm>
          <a:prstGeom prst="rect">
            <a:avLst/>
          </a:prstGeom>
        </p:spPr>
      </p:pic>
      <p:pic>
        <p:nvPicPr>
          <p:cNvPr id="1032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40690800" y="16459200"/>
            <a:ext cx="14274800" cy="3937000"/>
          </a:xfrm>
          <a:prstGeom prst="rect">
            <a:avLst/>
          </a:prstGeom>
        </p:spPr>
      </p:pic>
      <p:pic>
        <p:nvPicPr>
          <p:cNvPr id="1033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6946900" y="33426400"/>
            <a:ext cx="29997400" cy="1447800"/>
          </a:xfrm>
          <a:prstGeom prst="rect">
            <a:avLst/>
          </a:prstGeom>
        </p:spPr>
      </p:pic>
      <p:sp>
        <p:nvSpPr>
          <p:cNvPr id="1034" name="New shape"/>
          <p:cNvSpPr/>
          <p:nvPr/>
        </p:nvSpPr>
        <p:spPr>
          <a:xfrm>
            <a:off x="6946900" y="33997900"/>
            <a:ext cx="219456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>
                <a:solidFill>
                  <a:srgbClr val="808080"/>
                </a:solidFill>
              </a:rPr>
              <a:t>Template ID: persuadingsapphire  Size: 48x36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defPPr>
        <a:defRPr kern="1200"/>
      </a:defPPr>
      <a:lvl1pPr algn="ctr" defTabSz="4267200" rtl="0" eaLnBrk="0" fontAlgn="base" hangingPunct="0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+mj-lt"/>
          <a:ea typeface="+mj-ea"/>
          <a:cs typeface="+mj-cs"/>
        </a:defRPr>
      </a:lvl1pPr>
      <a:lvl2pPr algn="ctr" defTabSz="4267200" rtl="0" eaLnBrk="0" fontAlgn="base" hangingPunct="0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18" charset="0"/>
        </a:defRPr>
      </a:lvl2pPr>
      <a:lvl3pPr algn="ctr" defTabSz="4267200" rtl="0" eaLnBrk="0" fontAlgn="base" hangingPunct="0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18" charset="0"/>
        </a:defRPr>
      </a:lvl3pPr>
      <a:lvl4pPr algn="ctr" defTabSz="4267200" rtl="0" eaLnBrk="0" fontAlgn="base" hangingPunct="0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18" charset="0"/>
        </a:defRPr>
      </a:lvl4pPr>
      <a:lvl5pPr algn="ctr" defTabSz="4267200" rtl="0" eaLnBrk="0" fontAlgn="base" hangingPunct="0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18" charset="0"/>
        </a:defRPr>
      </a:lvl5pPr>
      <a:lvl6pPr marL="457200" algn="ctr" defTabSz="4267200" rtl="0" eaLnBrk="0" fontAlgn="base" hangingPunct="0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18" charset="0"/>
        </a:defRPr>
      </a:lvl6pPr>
      <a:lvl7pPr marL="914400" algn="ctr" defTabSz="4267200" rtl="0" eaLnBrk="0" fontAlgn="base" hangingPunct="0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18" charset="0"/>
        </a:defRPr>
      </a:lvl7pPr>
      <a:lvl8pPr marL="1371600" algn="ctr" defTabSz="4267200" rtl="0" eaLnBrk="0" fontAlgn="base" hangingPunct="0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18" charset="0"/>
        </a:defRPr>
      </a:lvl8pPr>
      <a:lvl9pPr marL="1828800" algn="ctr" defTabSz="4267200" rtl="0" eaLnBrk="0" fontAlgn="base" hangingPunct="0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18" charset="0"/>
        </a:defRPr>
      </a:lvl9pPr>
    </p:titleStyle>
    <p:bodyStyle>
      <a:defPPr>
        <a:defRPr kern="1200"/>
      </a:defPPr>
      <a:lvl1pPr marL="1600200" indent="-1600200" algn="l" defTabSz="4267200" rtl="0" eaLnBrk="0" fontAlgn="base" hangingPunct="0">
        <a:spcBef>
          <a:spcPct val="20000"/>
        </a:spcBef>
        <a:spcAft>
          <a:spcPct val="0"/>
        </a:spcAft>
        <a:buChar char="•"/>
        <a:defRPr sz="14900">
          <a:solidFill>
            <a:schemeClr val="tx1"/>
          </a:solidFill>
          <a:latin typeface="+mn-lt"/>
          <a:ea typeface="+mn-ea"/>
          <a:cs typeface="+mn-cs"/>
        </a:defRPr>
      </a:lvl1pPr>
      <a:lvl2pPr marL="3467100" indent="-1333500" algn="l" defTabSz="4267200" rtl="0" eaLnBrk="0" fontAlgn="base" hangingPunct="0">
        <a:spcBef>
          <a:spcPct val="20000"/>
        </a:spcBef>
        <a:spcAft>
          <a:spcPct val="0"/>
        </a:spcAft>
        <a:buChar char="–"/>
        <a:defRPr sz="13100">
          <a:solidFill>
            <a:schemeClr val="tx1"/>
          </a:solidFill>
          <a:latin typeface="+mn-lt"/>
        </a:defRPr>
      </a:lvl2pPr>
      <a:lvl3pPr marL="5334000" indent="-1066800" algn="l" defTabSz="4267200" rtl="0" eaLnBrk="0" fontAlgn="base" hangingPunct="0">
        <a:spcBef>
          <a:spcPct val="20000"/>
        </a:spcBef>
        <a:spcAft>
          <a:spcPct val="0"/>
        </a:spcAft>
        <a:buChar char="•"/>
        <a:defRPr sz="11200">
          <a:solidFill>
            <a:schemeClr val="tx1"/>
          </a:solidFill>
          <a:latin typeface="+mn-lt"/>
        </a:defRPr>
      </a:lvl3pPr>
      <a:lvl4pPr marL="7467600" indent="-1066800" algn="l" defTabSz="4267200" rtl="0" eaLnBrk="0" fontAlgn="base" hangingPunct="0">
        <a:spcBef>
          <a:spcPct val="20000"/>
        </a:spcBef>
        <a:spcAft>
          <a:spcPct val="0"/>
        </a:spcAft>
        <a:buChar char="–"/>
        <a:defRPr sz="9300">
          <a:solidFill>
            <a:schemeClr val="tx1"/>
          </a:solidFill>
          <a:latin typeface="+mn-lt"/>
        </a:defRPr>
      </a:lvl4pPr>
      <a:lvl5pPr marL="9601200" indent="-1066800" algn="l" defTabSz="4267200" rtl="0" eaLnBrk="0" fontAlgn="base" hangingPunct="0">
        <a:spcBef>
          <a:spcPct val="20000"/>
        </a:spcBef>
        <a:spcAft>
          <a:spcPct val="0"/>
        </a:spcAft>
        <a:buChar char="»"/>
        <a:defRPr sz="9300">
          <a:solidFill>
            <a:schemeClr val="tx1"/>
          </a:solidFill>
          <a:latin typeface="+mn-lt"/>
        </a:defRPr>
      </a:lvl5pPr>
      <a:lvl6pPr marL="10058400" indent="-1066800" algn="l" defTabSz="4267200" rtl="0" eaLnBrk="0" fontAlgn="base" hangingPunct="0">
        <a:spcBef>
          <a:spcPct val="20000"/>
        </a:spcBef>
        <a:spcAft>
          <a:spcPct val="0"/>
        </a:spcAft>
        <a:buChar char="»"/>
        <a:defRPr sz="9300">
          <a:solidFill>
            <a:schemeClr val="tx1"/>
          </a:solidFill>
          <a:latin typeface="+mn-lt"/>
        </a:defRPr>
      </a:lvl6pPr>
      <a:lvl7pPr marL="10515600" indent="-1066800" algn="l" defTabSz="4267200" rtl="0" eaLnBrk="0" fontAlgn="base" hangingPunct="0">
        <a:spcBef>
          <a:spcPct val="20000"/>
        </a:spcBef>
        <a:spcAft>
          <a:spcPct val="0"/>
        </a:spcAft>
        <a:buChar char="»"/>
        <a:defRPr sz="9300">
          <a:solidFill>
            <a:schemeClr val="tx1"/>
          </a:solidFill>
          <a:latin typeface="+mn-lt"/>
        </a:defRPr>
      </a:lvl7pPr>
      <a:lvl8pPr marL="10972800" indent="-1066800" algn="l" defTabSz="4267200" rtl="0" eaLnBrk="0" fontAlgn="base" hangingPunct="0">
        <a:spcBef>
          <a:spcPct val="20000"/>
        </a:spcBef>
        <a:spcAft>
          <a:spcPct val="0"/>
        </a:spcAft>
        <a:buChar char="»"/>
        <a:defRPr sz="9300">
          <a:solidFill>
            <a:schemeClr val="tx1"/>
          </a:solidFill>
          <a:latin typeface="+mn-lt"/>
        </a:defRPr>
      </a:lvl8pPr>
      <a:lvl9pPr marL="11430000" indent="-1066800" algn="l" defTabSz="4267200" rtl="0" eaLnBrk="0" fontAlgn="base" hangingPunct="0">
        <a:spcBef>
          <a:spcPct val="20000"/>
        </a:spcBef>
        <a:spcAft>
          <a:spcPct val="0"/>
        </a:spcAft>
        <a:buChar char="»"/>
        <a:defRPr sz="93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1482A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1">
            <a:extLst>
              <a:ext uri="{FF2B5EF4-FFF2-40B4-BE49-F238E27FC236}">
                <a16:creationId xmlns:a16="http://schemas.microsoft.com/office/drawing/2014/main" id="{8785E597-B0C8-4CA8-9A56-A0F3996D088D}"/>
              </a:ext>
            </a:extLst>
          </p:cNvPr>
          <p:cNvSpPr txBox="1"/>
          <p:nvPr/>
        </p:nvSpPr>
        <p:spPr>
          <a:xfrm>
            <a:off x="3657600" y="1385518"/>
            <a:ext cx="36576000" cy="2746935"/>
          </a:xfrm>
          <a:prstGeom prst="rect">
            <a:avLst/>
          </a:prstGeom>
        </p:spPr>
        <p:txBody>
          <a:bodyPr lIns="128016" tIns="64008" rIns="128016" bIns="64008"/>
          <a:lstStyle>
            <a:defPPr>
              <a:defRPr kern="1200"/>
            </a:defPPr>
            <a:lvl1pPr algn="ctr" defTabSz="4389028" rtl="0" eaLnBrk="1" latinLnBrk="0" hangingPunct="1">
              <a:spcBef>
                <a:spcPct val="0"/>
              </a:spcBef>
              <a:buNone/>
              <a:defRPr sz="13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500" dirty="0">
                <a:solidFill>
                  <a:srgbClr val="235078"/>
                </a:solidFill>
                <a:latin typeface="Libre Baskerville" panose="02000000000000000000" pitchFamily="2" charset="0"/>
              </a:rPr>
              <a:t>Modeling Collaboration and Participation Networks Across 3 Classical Music Festivals </a:t>
            </a:r>
            <a:br>
              <a:rPr lang="en-US" sz="8500" dirty="0">
                <a:solidFill>
                  <a:srgbClr val="235078"/>
                </a:solidFill>
                <a:latin typeface="Libre Baskerville" panose="02000000000000000000" pitchFamily="2" charset="0"/>
              </a:rPr>
            </a:br>
            <a:endParaRPr lang="en-US" sz="8500" dirty="0">
              <a:solidFill>
                <a:srgbClr val="235078"/>
              </a:solidFill>
              <a:latin typeface="Libre Baskerville" panose="02000000000000000000" pitchFamily="2" charset="0"/>
            </a:endParaRP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EBC3B70E-A392-4069-A147-C1FCF37051AF}"/>
              </a:ext>
            </a:extLst>
          </p:cNvPr>
          <p:cNvSpPr txBox="1"/>
          <p:nvPr/>
        </p:nvSpPr>
        <p:spPr>
          <a:xfrm>
            <a:off x="3657600" y="4528006"/>
            <a:ext cx="36576000" cy="2025170"/>
          </a:xfrm>
          <a:prstGeom prst="rect">
            <a:avLst/>
          </a:prstGeom>
        </p:spPr>
        <p:txBody>
          <a:bodyPr lIns="128016" tIns="64008" rIns="128016" bIns="64008">
            <a:spAutoFit/>
          </a:bodyPr>
          <a:lstStyle>
            <a:defPPr>
              <a:defRPr kern="1200"/>
            </a:defPPr>
            <a:lvl1pPr marL="0" indent="0" algn="l" defTabSz="4389028" rtl="0" eaLnBrk="1" latinLnBrk="0" hangingPunct="1">
              <a:spcBef>
                <a:spcPct val="20000"/>
              </a:spcBef>
              <a:buFont typeface="Arial" pitchFamily="34" charset="0"/>
              <a:buNone/>
              <a:defRPr sz="13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086" indent="-1371572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286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800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314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828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342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857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371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600">
                <a:solidFill>
                  <a:srgbClr val="1482A5"/>
                </a:solidFill>
                <a:latin typeface="Montserrat Light" panose="00000400000000000000" pitchFamily="50" charset="0"/>
              </a:rPr>
              <a:t>Conor de Leeuw, Data Analytics and Computational Social Sciences </a:t>
            </a:r>
          </a:p>
          <a:p>
            <a:pPr algn="ctr"/>
            <a:r>
              <a:rPr lang="en-US" sz="5600">
                <a:solidFill>
                  <a:srgbClr val="1482A5"/>
                </a:solidFill>
                <a:latin typeface="Montserrat Light" panose="00000400000000000000" pitchFamily="50" charset="0"/>
              </a:rPr>
              <a:t>DACSS 790N: Social Network Inference </a:t>
            </a:r>
            <a:endParaRPr lang="en-US" sz="5600" dirty="0">
              <a:solidFill>
                <a:srgbClr val="1482A5"/>
              </a:solidFill>
              <a:latin typeface="Montserrat Light" panose="00000400000000000000" pitchFamily="50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C718E78-BDD8-4BAD-851F-D423AE935B0D}"/>
              </a:ext>
            </a:extLst>
          </p:cNvPr>
          <p:cNvSpPr/>
          <p:nvPr/>
        </p:nvSpPr>
        <p:spPr>
          <a:xfrm>
            <a:off x="530676" y="7827665"/>
            <a:ext cx="10213524" cy="96582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9C39BF6-8B9A-45D3-A730-4CDDF5EAA7F1}"/>
              </a:ext>
            </a:extLst>
          </p:cNvPr>
          <p:cNvSpPr/>
          <p:nvPr/>
        </p:nvSpPr>
        <p:spPr>
          <a:xfrm>
            <a:off x="21521056" y="7745166"/>
            <a:ext cx="22370144" cy="251732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E6D1C9C-2516-4738-BC80-673A19ECE5BD}"/>
              </a:ext>
            </a:extLst>
          </p:cNvPr>
          <p:cNvSpPr/>
          <p:nvPr/>
        </p:nvSpPr>
        <p:spPr>
          <a:xfrm>
            <a:off x="33881785" y="7745166"/>
            <a:ext cx="10058400" cy="10310515"/>
          </a:xfrm>
          <a:prstGeom prst="rect">
            <a:avLst/>
          </a:prstGeom>
          <a:solidFill>
            <a:schemeClr val="bg2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F25EFAD-7AAF-4CAF-BA69-869B3D423F7F}"/>
              </a:ext>
            </a:extLst>
          </p:cNvPr>
          <p:cNvSpPr/>
          <p:nvPr/>
        </p:nvSpPr>
        <p:spPr>
          <a:xfrm>
            <a:off x="693964" y="17608420"/>
            <a:ext cx="10142764" cy="8498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EC9A64B-144F-4668-B416-097C0312FF96}"/>
              </a:ext>
            </a:extLst>
          </p:cNvPr>
          <p:cNvSpPr/>
          <p:nvPr/>
        </p:nvSpPr>
        <p:spPr>
          <a:xfrm>
            <a:off x="11255828" y="7827665"/>
            <a:ext cx="10058400" cy="61905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F801B80-E24E-4773-AC4E-37DC17B0424E}"/>
              </a:ext>
            </a:extLst>
          </p:cNvPr>
          <p:cNvSpPr/>
          <p:nvPr/>
        </p:nvSpPr>
        <p:spPr>
          <a:xfrm>
            <a:off x="685800" y="26229239"/>
            <a:ext cx="10213524" cy="6487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9BDD4D7-12C6-4DBA-AD93-2C88BC17BC8B}"/>
              </a:ext>
            </a:extLst>
          </p:cNvPr>
          <p:cNvSpPr txBox="1"/>
          <p:nvPr/>
        </p:nvSpPr>
        <p:spPr>
          <a:xfrm>
            <a:off x="938892" y="8621344"/>
            <a:ext cx="9601200" cy="898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3400" dirty="0"/>
              <a:t>This project examines collaboration and participation patterns within elite classical music festival networks using ERGM and social network analysis. An initial one-mode musician collaboration network produced highly dense structures that complicated ERGM estimation which  motivated a shift toward a two-mode musician–festival participation framework. </a:t>
            </a:r>
          </a:p>
          <a:p>
            <a:r>
              <a:rPr lang="en-US" sz="3400" dirty="0"/>
              <a:t>	</a:t>
            </a:r>
          </a:p>
          <a:p>
            <a:r>
              <a:rPr lang="en-US" sz="3400" dirty="0"/>
              <a:t>Using guest artist rosters from major festivals including Aspen, Bravo! Vail, and Tanglewood, the project analyzes how repeated participation and instrument-based structure shape network formation. Results suggest that participation is concentrated among a relatively small group of highly connected musicians, highlighting the role of institutional embeddedness and recurring artistic communities in shaping elite classical music networks. </a:t>
            </a:r>
            <a:endParaRPr lang="en-US" sz="3400" dirty="0">
              <a:latin typeface="Montserrat Light" panose="00000400000000000000" pitchFamily="50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4864E4E-50A2-403F-84B8-E4F7E820612B}"/>
              </a:ext>
            </a:extLst>
          </p:cNvPr>
          <p:cNvSpPr txBox="1"/>
          <p:nvPr/>
        </p:nvSpPr>
        <p:spPr>
          <a:xfrm>
            <a:off x="947056" y="7982988"/>
            <a:ext cx="960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3600" dirty="0">
                <a:solidFill>
                  <a:srgbClr val="235078"/>
                </a:solidFill>
                <a:latin typeface="Libre Baskerville" panose="02000000000000000000" pitchFamily="2" charset="0"/>
              </a:rPr>
              <a:t>Abstract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3DA8D0E-1298-4193-913A-0FE766B77D13}"/>
              </a:ext>
            </a:extLst>
          </p:cNvPr>
          <p:cNvSpPr txBox="1"/>
          <p:nvPr/>
        </p:nvSpPr>
        <p:spPr>
          <a:xfrm>
            <a:off x="34026377" y="7982988"/>
            <a:ext cx="9601200" cy="10310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4000" dirty="0">
                <a:solidFill>
                  <a:srgbClr val="235078"/>
                </a:solidFill>
                <a:latin typeface="Libre Baskerville" panose="02000000000000000000" pitchFamily="2" charset="0"/>
              </a:rPr>
              <a:t>Discussion/Conclusion</a:t>
            </a:r>
          </a:p>
          <a:p>
            <a:endParaRPr lang="en-US" sz="4000" dirty="0">
              <a:solidFill>
                <a:srgbClr val="235078"/>
              </a:solidFill>
              <a:latin typeface="Libre Baskerville" panose="02000000000000000000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latin typeface="Libre Baskerville" panose="02000000000000000000" pitchFamily="2" charset="0"/>
              </a:rPr>
              <a:t>Significant musician </a:t>
            </a:r>
            <a:r>
              <a:rPr lang="en-US" sz="4000" dirty="0">
                <a:latin typeface="Libre Baskerville" panose="02000000000000000000" pitchFamily="2" charset="0"/>
              </a:rPr>
              <a:t>side participation.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latin typeface="Libre Baskerville" panose="02000000000000000000" pitchFamily="2" charset="0"/>
              </a:rPr>
              <a:t>Instrument-family </a:t>
            </a:r>
            <a:r>
              <a:rPr lang="en-US" sz="4000" dirty="0">
                <a:latin typeface="Libre Baskerville" panose="02000000000000000000" pitchFamily="2" charset="0"/>
              </a:rPr>
              <a:t>not statistically significant, suggests recurring participation. </a:t>
            </a:r>
            <a:endParaRPr lang="en-US" sz="4000" b="1" dirty="0">
              <a:latin typeface="Libre Baskerville" panose="02000000000000000000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latin typeface="Libre Baskerville" panose="02000000000000000000" pitchFamily="2" charset="0"/>
              </a:rPr>
              <a:t>Repeated involvement among small group of highly connected musician's </a:t>
            </a:r>
            <a:r>
              <a:rPr lang="en-US" sz="4000" dirty="0">
                <a:latin typeface="Libre Baskerville" panose="02000000000000000000" pitchFamily="2" charset="0"/>
              </a:rPr>
              <a:t>shapes festival participation.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latin typeface="Libre Baskerville" panose="02000000000000000000" pitchFamily="2" charset="0"/>
              </a:rPr>
              <a:t>Positive gwb1degree </a:t>
            </a:r>
            <a:r>
              <a:rPr lang="en-US" sz="4000" dirty="0">
                <a:latin typeface="Libre Baskerville" panose="02000000000000000000" pitchFamily="2" charset="0"/>
              </a:rPr>
              <a:t>indicates participation is concentrated among a small group.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Libre Baskerville" panose="02000000000000000000" pitchFamily="2" charset="0"/>
              </a:rPr>
              <a:t>Certain musicians appear across </a:t>
            </a:r>
            <a:r>
              <a:rPr lang="en-US" sz="4000" b="1" dirty="0">
                <a:latin typeface="Libre Baskerville" panose="02000000000000000000" pitchFamily="2" charset="0"/>
              </a:rPr>
              <a:t>multiple festival-years </a:t>
            </a:r>
            <a:endParaRPr lang="en-US" sz="4000" b="1" dirty="0">
              <a:solidFill>
                <a:srgbClr val="235078"/>
              </a:solidFill>
              <a:latin typeface="Libre Baskerville" panose="02000000000000000000" pitchFamily="2" charset="0"/>
            </a:endParaRPr>
          </a:p>
          <a:p>
            <a:r>
              <a:rPr lang="en-US" dirty="0">
                <a:solidFill>
                  <a:srgbClr val="1482A5"/>
                </a:solidFill>
                <a:latin typeface="Montserrat Light" panose="000004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067F8A1-EE95-4354-8E2F-952A6BBDBFFC}"/>
              </a:ext>
            </a:extLst>
          </p:cNvPr>
          <p:cNvSpPr txBox="1"/>
          <p:nvPr/>
        </p:nvSpPr>
        <p:spPr>
          <a:xfrm>
            <a:off x="914400" y="18425862"/>
            <a:ext cx="96012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Classical music festivals operate as highly collaborative artistic environments.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 Professional relationships influence performance opportunities, institutional visibility, and career advancement.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Prior studies of music networks just focus on institutional prestige.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Model musician participation across festival-years as a two-mode network.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Aims to demonstrate how repeated participation shapes artistic communities.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2D5F59B-F8CA-463C-871F-D1042309DE00}"/>
              </a:ext>
            </a:extLst>
          </p:cNvPr>
          <p:cNvSpPr txBox="1"/>
          <p:nvPr/>
        </p:nvSpPr>
        <p:spPr>
          <a:xfrm>
            <a:off x="783771" y="17779531"/>
            <a:ext cx="960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3600" dirty="0">
                <a:solidFill>
                  <a:srgbClr val="235078"/>
                </a:solidFill>
                <a:latin typeface="Libre Baskerville" panose="02000000000000000000" pitchFamily="2" charset="0"/>
              </a:rPr>
              <a:t>Introduction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8744D3E-CEF9-4748-9719-25AAABF27BDD}"/>
              </a:ext>
            </a:extLst>
          </p:cNvPr>
          <p:cNvSpPr txBox="1"/>
          <p:nvPr/>
        </p:nvSpPr>
        <p:spPr>
          <a:xfrm>
            <a:off x="862695" y="26352419"/>
            <a:ext cx="960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3600" dirty="0">
                <a:solidFill>
                  <a:srgbClr val="235078"/>
                </a:solidFill>
                <a:latin typeface="Libre Baskerville" panose="02000000000000000000" pitchFamily="2" charset="0"/>
              </a:rPr>
              <a:t>Research Question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23EAA92-7B93-4F15-A4CA-18552CBA76AE}"/>
              </a:ext>
            </a:extLst>
          </p:cNvPr>
          <p:cNvSpPr txBox="1"/>
          <p:nvPr/>
        </p:nvSpPr>
        <p:spPr>
          <a:xfrm>
            <a:off x="11430000" y="8723537"/>
            <a:ext cx="96012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3600" dirty="0">
                <a:solidFill>
                  <a:srgbClr val="1482A5"/>
                </a:solidFill>
                <a:latin typeface="Montserrat Light" panose="000004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H1: </a:t>
            </a:r>
            <a:r>
              <a:rPr lang="en-US" sz="3600" dirty="0"/>
              <a:t>Musician participation is concentrated among a relatively small group of highly active musicians across festival-years</a:t>
            </a:r>
            <a:r>
              <a:rPr lang="en-US" sz="3600" dirty="0">
                <a:solidFill>
                  <a:srgbClr val="1482A5"/>
                </a:solidFill>
                <a:latin typeface="Montserrat Light" panose="000004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r>
              <a:rPr lang="en-US" sz="3600" dirty="0">
                <a:solidFill>
                  <a:srgbClr val="1482A5"/>
                </a:solidFill>
                <a:latin typeface="Montserrat Light" panose="000004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r>
              <a:rPr lang="en-US" sz="3600" dirty="0">
                <a:solidFill>
                  <a:srgbClr val="1482A5"/>
                </a:solidFill>
                <a:latin typeface="Montserrat Light" panose="000004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H2: </a:t>
            </a:r>
            <a:r>
              <a:rPr lang="en-US" sz="3600" dirty="0"/>
              <a:t>Some festival-years attract disproportionately more musicians than others. </a:t>
            </a:r>
          </a:p>
          <a:p>
            <a:endParaRPr lang="en-US" sz="3600" dirty="0"/>
          </a:p>
          <a:p>
            <a:r>
              <a:rPr lang="en-US" sz="3600" dirty="0">
                <a:solidFill>
                  <a:srgbClr val="1482A5"/>
                </a:solidFill>
                <a:latin typeface="Montserrat Light" panose="000004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H3: </a:t>
            </a:r>
            <a:r>
              <a:rPr lang="en-US" sz="3600" dirty="0"/>
              <a:t>Festival participation patterns vary across instrument families</a:t>
            </a:r>
            <a:endParaRPr lang="en-US" sz="3600" dirty="0">
              <a:solidFill>
                <a:srgbClr val="1482A5"/>
              </a:solidFill>
              <a:latin typeface="Montserrat Light" panose="00000400000000000000" pitchFamily="50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6F17B6-B5C7-4922-B9E2-CD14BD16A568}"/>
              </a:ext>
            </a:extLst>
          </p:cNvPr>
          <p:cNvSpPr txBox="1"/>
          <p:nvPr/>
        </p:nvSpPr>
        <p:spPr>
          <a:xfrm>
            <a:off x="11370129" y="7934961"/>
            <a:ext cx="960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3600" dirty="0">
                <a:solidFill>
                  <a:srgbClr val="235078"/>
                </a:solidFill>
                <a:latin typeface="Libre Baskerville" panose="02000000000000000000" pitchFamily="2" charset="0"/>
              </a:rPr>
              <a:t>Hypotheses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7F717BC-0897-4243-A282-98EF911708EA}"/>
              </a:ext>
            </a:extLst>
          </p:cNvPr>
          <p:cNvSpPr txBox="1"/>
          <p:nvPr/>
        </p:nvSpPr>
        <p:spPr>
          <a:xfrm>
            <a:off x="22555200" y="8745113"/>
            <a:ext cx="960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dirty="0">
                <a:solidFill>
                  <a:srgbClr val="1482A5"/>
                </a:solidFill>
                <a:latin typeface="Montserrat Light" panose="000004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7A0BB3C-427E-42CA-963C-DA612C8F2B9C}"/>
              </a:ext>
            </a:extLst>
          </p:cNvPr>
          <p:cNvSpPr txBox="1"/>
          <p:nvPr/>
        </p:nvSpPr>
        <p:spPr>
          <a:xfrm>
            <a:off x="21945599" y="7934961"/>
            <a:ext cx="9481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3600" dirty="0">
                <a:solidFill>
                  <a:srgbClr val="235078"/>
                </a:solidFill>
                <a:latin typeface="Libre Baskerville" panose="02000000000000000000" pitchFamily="2" charset="0"/>
              </a:rPr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87843B-D67E-A432-0F07-95FB24936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76349"/>
            <a:ext cx="5355771" cy="4800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3FF28A-1EE1-ACB8-C348-3D9404A0D3D9}"/>
              </a:ext>
            </a:extLst>
          </p:cNvPr>
          <p:cNvSpPr/>
          <p:nvPr/>
        </p:nvSpPr>
        <p:spPr bwMode="auto">
          <a:xfrm>
            <a:off x="623204" y="27379288"/>
            <a:ext cx="10213524" cy="48006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DEFDE6-57B1-C315-5BFF-3A91D54E8717}"/>
              </a:ext>
            </a:extLst>
          </p:cNvPr>
          <p:cNvSpPr txBox="1"/>
          <p:nvPr/>
        </p:nvSpPr>
        <p:spPr>
          <a:xfrm>
            <a:off x="1110345" y="27655572"/>
            <a:ext cx="871945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What factors shape musician participation in elite classical music festivals, and do highly active musicians and festival-years produce concentrated two-mode network structures?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FE20D6-A54D-2365-4BB3-8111A3750C45}"/>
              </a:ext>
            </a:extLst>
          </p:cNvPr>
          <p:cNvSpPr/>
          <p:nvPr/>
        </p:nvSpPr>
        <p:spPr>
          <a:xfrm>
            <a:off x="11234056" y="14556714"/>
            <a:ext cx="10058400" cy="181597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510586-C185-6618-6064-7644FFFE4C0E}"/>
              </a:ext>
            </a:extLst>
          </p:cNvPr>
          <p:cNvSpPr txBox="1"/>
          <p:nvPr/>
        </p:nvSpPr>
        <p:spPr>
          <a:xfrm>
            <a:off x="11337472" y="14697722"/>
            <a:ext cx="9693727" cy="19236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235078"/>
                </a:solidFill>
                <a:latin typeface="Libre Baskerville" panose="02000000000000000000" pitchFamily="2" charset="0"/>
              </a:rPr>
              <a:t>Data/Methodology </a:t>
            </a:r>
          </a:p>
          <a:p>
            <a:endParaRPr lang="en-US" sz="3200" b="1" dirty="0">
              <a:latin typeface="Libre Baskerville" panose="02000000000000000000" pitchFamily="2" charset="0"/>
            </a:endParaRPr>
          </a:p>
          <a:p>
            <a:r>
              <a:rPr lang="en-US" sz="3600" b="1" dirty="0">
                <a:latin typeface="Libre Baskerville" panose="02000000000000000000" pitchFamily="2" charset="0"/>
              </a:rPr>
              <a:t>Data: </a:t>
            </a:r>
          </a:p>
          <a:p>
            <a:r>
              <a:rPr lang="en-US" sz="3600" dirty="0">
                <a:latin typeface="Libre Baskerville" panose="02000000000000000000" pitchFamily="2" charset="0"/>
              </a:rPr>
              <a:t>2023 and 2024 Musician participation rosters from: </a:t>
            </a:r>
          </a:p>
          <a:p>
            <a:pPr marL="4229100" lvl="8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Libre Baskerville" panose="02000000000000000000" pitchFamily="2" charset="0"/>
              </a:rPr>
              <a:t>Aspen Music Festival </a:t>
            </a:r>
          </a:p>
          <a:p>
            <a:pPr marL="4229100" lvl="8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Libre Baskerville" panose="02000000000000000000" pitchFamily="2" charset="0"/>
              </a:rPr>
              <a:t>Bravo! Vail Music Festival </a:t>
            </a:r>
          </a:p>
          <a:p>
            <a:pPr marL="4229100" lvl="8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Libre Baskerville" panose="02000000000000000000" pitchFamily="2" charset="0"/>
              </a:rPr>
              <a:t>Tanglewood </a:t>
            </a:r>
          </a:p>
          <a:p>
            <a:r>
              <a:rPr lang="en-US" sz="3600" b="1" dirty="0">
                <a:latin typeface="Libre Baskerville" panose="02000000000000000000" pitchFamily="2" charset="0"/>
              </a:rPr>
              <a:t> Variables</a:t>
            </a:r>
            <a:r>
              <a:rPr lang="en-US" sz="3600" dirty="0">
                <a:solidFill>
                  <a:srgbClr val="235078"/>
                </a:solidFill>
                <a:latin typeface="Libre Baskerville" panose="02000000000000000000" pitchFamily="2" charset="0"/>
              </a:rPr>
              <a:t>: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35078"/>
                </a:solidFill>
                <a:latin typeface="Libre Baskerville" panose="02000000000000000000" pitchFamily="2" charset="0"/>
              </a:rPr>
              <a:t>Musician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35078"/>
                </a:solidFill>
                <a:latin typeface="Libre Baskerville" panose="02000000000000000000" pitchFamily="2" charset="0"/>
              </a:rPr>
              <a:t>Instrument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35078"/>
                </a:solidFill>
                <a:latin typeface="Libre Baskerville" panose="02000000000000000000" pitchFamily="2" charset="0"/>
              </a:rPr>
              <a:t>Festival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35078"/>
                </a:solidFill>
                <a:latin typeface="Libre Baskerville" panose="02000000000000000000" pitchFamily="2" charset="0"/>
              </a:rPr>
              <a:t>Year </a:t>
            </a:r>
          </a:p>
          <a:p>
            <a:endParaRPr lang="en-US" sz="3600" dirty="0">
              <a:solidFill>
                <a:srgbClr val="235078"/>
              </a:solidFill>
              <a:latin typeface="Libre Baskerville" panose="02000000000000000000" pitchFamily="2" charset="0"/>
            </a:endParaRPr>
          </a:p>
          <a:p>
            <a:r>
              <a:rPr lang="en-US" sz="3600" b="1" dirty="0">
                <a:latin typeface="Libre Baskerville" panose="02000000000000000000" pitchFamily="2" charset="0"/>
              </a:rPr>
              <a:t>Network Construction</a:t>
            </a:r>
            <a:r>
              <a:rPr lang="en-US" sz="3600" dirty="0">
                <a:solidFill>
                  <a:srgbClr val="235078"/>
                </a:solidFill>
                <a:latin typeface="Libre Baskerville" panose="02000000000000000000" pitchFamily="2" charset="0"/>
              </a:rPr>
              <a:t>: </a:t>
            </a:r>
          </a:p>
          <a:p>
            <a:r>
              <a:rPr lang="en-US" sz="3600" dirty="0">
                <a:solidFill>
                  <a:srgbClr val="235078"/>
                </a:solidFill>
                <a:latin typeface="Libre Baskerville" panose="02000000000000000000" pitchFamily="2" charset="0"/>
              </a:rPr>
              <a:t>Two mode network: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35078"/>
                </a:solidFill>
                <a:latin typeface="Libre Baskerville" panose="02000000000000000000" pitchFamily="2" charset="0"/>
              </a:rPr>
              <a:t>Mode 1 = musicians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35078"/>
                </a:solidFill>
                <a:latin typeface="Libre Baskerville" panose="02000000000000000000" pitchFamily="2" charset="0"/>
              </a:rPr>
              <a:t>Mode 2 = festival-years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35078"/>
                </a:solidFill>
                <a:latin typeface="Libre Baskerville" panose="02000000000000000000" pitchFamily="2" charset="0"/>
              </a:rPr>
              <a:t>Tie indicates musician participation in a festival-year</a:t>
            </a:r>
          </a:p>
          <a:p>
            <a:endParaRPr lang="en-US" sz="3600" dirty="0">
              <a:solidFill>
                <a:srgbClr val="235078"/>
              </a:solidFill>
              <a:latin typeface="Libre Baskerville" panose="02000000000000000000" pitchFamily="2" charset="0"/>
            </a:endParaRPr>
          </a:p>
          <a:p>
            <a:r>
              <a:rPr lang="en-US" sz="3600" b="1" dirty="0">
                <a:latin typeface="Libre Baskerville" panose="02000000000000000000" pitchFamily="2" charset="0"/>
              </a:rPr>
              <a:t>Methodology</a:t>
            </a:r>
            <a:r>
              <a:rPr lang="en-US" sz="3600" b="1" dirty="0">
                <a:solidFill>
                  <a:srgbClr val="235078"/>
                </a:solidFill>
                <a:latin typeface="Libre Baskerville" panose="02000000000000000000" pitchFamily="2" charset="0"/>
              </a:rPr>
              <a:t>: </a:t>
            </a:r>
          </a:p>
          <a:p>
            <a:endParaRPr lang="en-US" sz="3600" b="1" dirty="0">
              <a:solidFill>
                <a:srgbClr val="235078"/>
              </a:solidFill>
              <a:latin typeface="Libre Baskerville" panose="02000000000000000000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Libre Baskerville" panose="02000000000000000000" pitchFamily="2" charset="0"/>
              </a:rPr>
              <a:t>Degree centrality analysis</a:t>
            </a:r>
          </a:p>
          <a:p>
            <a:endParaRPr lang="en-US" sz="3600" b="1" dirty="0">
              <a:latin typeface="Libre Baskerville" panose="02000000000000000000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Libre Baskerville" panose="02000000000000000000" pitchFamily="2" charset="0"/>
              </a:rPr>
              <a:t>Two-mode ERGM</a:t>
            </a:r>
          </a:p>
          <a:p>
            <a:pPr marL="2400300" lvl="4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Libre Baskerville" panose="02000000000000000000" pitchFamily="2" charset="0"/>
              </a:rPr>
              <a:t>gwb1degree: </a:t>
            </a:r>
            <a:r>
              <a:rPr lang="en-US" sz="3600" dirty="0">
                <a:latin typeface="Libre Baskerville" panose="02000000000000000000" pitchFamily="2" charset="0"/>
              </a:rPr>
              <a:t>dependency in participation structure</a:t>
            </a:r>
          </a:p>
          <a:p>
            <a:pPr lvl="4"/>
            <a:r>
              <a:rPr lang="en-US" sz="3600" b="1" dirty="0">
                <a:latin typeface="Libre Baskerville" panose="02000000000000000000" pitchFamily="2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Libre Baskerville" panose="02000000000000000000" pitchFamily="2" charset="0"/>
              </a:rPr>
              <a:t>Participation concentration modeling </a:t>
            </a:r>
          </a:p>
          <a:p>
            <a:endParaRPr lang="en-US" sz="4400" dirty="0">
              <a:solidFill>
                <a:srgbClr val="235078"/>
              </a:solidFill>
              <a:latin typeface="Libre Baskerville" panose="02000000000000000000" pitchFamily="2" charset="0"/>
            </a:endParaRPr>
          </a:p>
          <a:p>
            <a:endParaRPr lang="en-US" sz="4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6FC4C5-3455-BDD2-AB57-0A8593BAF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47629" y="8629326"/>
            <a:ext cx="11484429" cy="75538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1109446-8715-EBD7-96A6-E808921F43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80927" y="18174645"/>
            <a:ext cx="14842673" cy="839578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7D800DA-6358-94B3-CC9D-FB063717B842}"/>
              </a:ext>
            </a:extLst>
          </p:cNvPr>
          <p:cNvSpPr txBox="1"/>
          <p:nvPr/>
        </p:nvSpPr>
        <p:spPr>
          <a:xfrm>
            <a:off x="21722442" y="16044647"/>
            <a:ext cx="121593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Figure 1: The two-mode network reveals concentrated participation among a relatively small group of highly connected musicians who repeatedly appear across multiple festival-years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E90670-C559-7380-3F2C-B09960B265E6}"/>
              </a:ext>
            </a:extLst>
          </p:cNvPr>
          <p:cNvSpPr txBox="1"/>
          <p:nvPr/>
        </p:nvSpPr>
        <p:spPr>
          <a:xfrm>
            <a:off x="21580927" y="26399463"/>
            <a:ext cx="1713955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Joshua Bell, Daniil Trifonov, and Bruce Liu demonstrated the highest levels of festival-year participation, appearing repeatedly across elite festival communities. This suggests recurring institutional involvement and reinforces the presence of highly connected artistic sub-networks within festivals. 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9ED1948-9597-8BE2-0EF9-66F7EEAB6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242469"/>
              </p:ext>
            </p:extLst>
          </p:nvPr>
        </p:nvGraphicFramePr>
        <p:xfrm>
          <a:off x="23850600" y="27908506"/>
          <a:ext cx="19148679" cy="500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0552">
                  <a:extLst>
                    <a:ext uri="{9D8B030D-6E8A-4147-A177-3AD203B41FA5}">
                      <a16:colId xmlns:a16="http://schemas.microsoft.com/office/drawing/2014/main" val="2119287093"/>
                    </a:ext>
                  </a:extLst>
                </a:gridCol>
                <a:gridCol w="3367039">
                  <a:extLst>
                    <a:ext uri="{9D8B030D-6E8A-4147-A177-3AD203B41FA5}">
                      <a16:colId xmlns:a16="http://schemas.microsoft.com/office/drawing/2014/main" val="775788054"/>
                    </a:ext>
                  </a:extLst>
                </a:gridCol>
                <a:gridCol w="8563918">
                  <a:extLst>
                    <a:ext uri="{9D8B030D-6E8A-4147-A177-3AD203B41FA5}">
                      <a16:colId xmlns:a16="http://schemas.microsoft.com/office/drawing/2014/main" val="607944264"/>
                    </a:ext>
                  </a:extLst>
                </a:gridCol>
                <a:gridCol w="4787170">
                  <a:extLst>
                    <a:ext uri="{9D8B030D-6E8A-4147-A177-3AD203B41FA5}">
                      <a16:colId xmlns:a16="http://schemas.microsoft.com/office/drawing/2014/main" val="781110193"/>
                    </a:ext>
                  </a:extLst>
                </a:gridCol>
              </a:tblGrid>
              <a:tr h="1252473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Network Term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 Effect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Significance 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Interpretation 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2823"/>
                  </a:ext>
                </a:extLst>
              </a:tr>
              <a:tr h="1637850">
                <a:tc>
                  <a:txBody>
                    <a:bodyPr/>
                    <a:lstStyle/>
                    <a:p>
                      <a:r>
                        <a:rPr lang="en-US" sz="3600" dirty="0"/>
                        <a:t>gwb1degree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Positive Effect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P  &lt; 0.001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Participation concentrated among highly active musicians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562238"/>
                  </a:ext>
                </a:extLst>
              </a:tr>
              <a:tr h="2119570">
                <a:tc>
                  <a:txBody>
                    <a:bodyPr/>
                    <a:lstStyle/>
                    <a:p>
                      <a:r>
                        <a:rPr lang="en-US" sz="3600" dirty="0"/>
                        <a:t>Instrument Family 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Mixed effect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Not significant 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sz="3600" dirty="0"/>
                        <a:t>Instrument type did not strongly predict participation. 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7478457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persuadingsapphire|08-2022"/>
</p:tagLst>
</file>

<file path=ppt/theme/theme1.xml><?xml version="1.0" encoding="utf-8"?>
<a:theme xmlns:a="http://schemas.openxmlformats.org/drawingml/2006/main" name="Blank Presentation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Blank Presentation">
      <a:majorFont>
        <a:latin typeface="Times New Roman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3988</TotalTime>
  <Words>477</Words>
  <Application>Microsoft Office PowerPoint</Application>
  <PresentationFormat>Custom</PresentationFormat>
  <Paragraphs>74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Libre Baskerville</vt:lpstr>
      <vt:lpstr>Times New Roman</vt:lpstr>
      <vt:lpstr>Montserrat Light</vt:lpstr>
      <vt:lpstr>Blank Presentation</vt:lpstr>
      <vt:lpstr>PowerPoint Presentation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to make a scientific poster</dc:title>
  <dc:subject>Free Poster Presentation Example</dc:subject>
  <dc:creator>Graphicsland/MakeSigns.com</dc:creator>
  <cp:keywords>scientific, research, template, custom, poster, presentation, symposium, printing, PowerPoint, create, design, example, sample, download</cp:keywords>
  <dc:description>This is a free template from MakeSigns.com to help you create the perfect scientific poster.</dc:description>
  <cp:lastModifiedBy>Conor de Leeuw</cp:lastModifiedBy>
  <cp:revision>299</cp:revision>
  <cp:lastPrinted>2006-11-15T16:04:57Z</cp:lastPrinted>
  <dcterms:modified xsi:type="dcterms:W3CDTF">2026-05-15T01:17:50Z</dcterms:modified>
  <cp:category>templates for scientific poster</cp:category>
</cp:coreProperties>
</file>